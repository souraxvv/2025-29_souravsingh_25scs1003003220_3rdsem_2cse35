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0" y="1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92895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5666184"/>
            <a:ext cx="9144000" cy="9465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5141" y="470110"/>
            <a:ext cx="861566" cy="5134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45"/>
              </a:lnSpc>
            </a:pPr>
            <a:r>
              <a:rPr lang="en-US" sz="1400" b="0" i="0" u="none" dirty="0">
                <a:solidFill>
                  <a:srgbClr val="000000"/>
                </a:solidFill>
                <a:latin typeface="Times New Roman"/>
              </a:rPr>
              <a:t>Submitted</a:t>
            </a:r>
          </a:p>
          <a:p>
            <a:pPr algn="ctr">
              <a:lnSpc>
                <a:spcPts val="2145"/>
              </a:lnSpc>
            </a:pPr>
            <a:r>
              <a:rPr lang="en-US" sz="1400" dirty="0">
                <a:solidFill>
                  <a:srgbClr val="000000"/>
                </a:solidFill>
                <a:latin typeface="Times New Roman"/>
              </a:rPr>
              <a:t>To</a:t>
            </a:r>
            <a:endParaRPr sz="1400" b="0" i="0" u="none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33495" y="1170979"/>
            <a:ext cx="5124859" cy="346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sz="2100" b="0" i="0" u="none">
                <a:solidFill>
                  <a:srgbClr val="000000"/>
                </a:solidFill>
                <a:latin typeface="Times New Roman"/>
              </a:rPr>
              <a:t>School of Computer Science and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54511" y="1631900"/>
            <a:ext cx="3882829" cy="3219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535"/>
              </a:lnSpc>
            </a:pPr>
            <a:r>
              <a:rPr sz="1950" b="0" i="0" u="none">
                <a:solidFill>
                  <a:srgbClr val="000000"/>
                </a:solidFill>
                <a:latin typeface="Times New Roman"/>
              </a:rPr>
              <a:t>IILM University, Greater Noida, U.P.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7246" y="2058614"/>
            <a:ext cx="4317355" cy="2723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45"/>
              </a:lnSpc>
            </a:pPr>
            <a:r>
              <a:rPr sz="1650" b="0" i="0" u="none" dirty="0">
                <a:solidFill>
                  <a:srgbClr val="000000"/>
                </a:solidFill>
                <a:latin typeface="Times New Roman"/>
              </a:rPr>
              <a:t>In partial fulfilment of the requirement of degree 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04287" y="2549202"/>
            <a:ext cx="1183272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340"/>
              </a:lnSpc>
            </a:pPr>
            <a:r>
              <a:rPr sz="1800" b="0" i="0" u="none" dirty="0" err="1">
                <a:solidFill>
                  <a:srgbClr val="000000"/>
                </a:solidFill>
                <a:latin typeface="Times New Roman"/>
              </a:rPr>
              <a:t>B.Tech</a:t>
            </a:r>
            <a:r>
              <a:rPr sz="1800" b="0" i="0" u="none" dirty="0">
                <a:solidFill>
                  <a:srgbClr val="000000"/>
                </a:solidFill>
                <a:latin typeface="Times New Roman"/>
              </a:rPr>
              <a:t> CSE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127" y="4024776"/>
            <a:ext cx="266848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340"/>
              </a:lnSpc>
            </a:pPr>
            <a:r>
              <a:rPr sz="1800" b="0" i="0" u="none" dirty="0">
                <a:solidFill>
                  <a:srgbClr val="000000"/>
                </a:solidFill>
                <a:latin typeface="Times New Roman"/>
              </a:rPr>
              <a:t>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15816" y="4348153"/>
            <a:ext cx="4378548" cy="251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45"/>
              </a:lnSpc>
            </a:pPr>
            <a:r>
              <a:rPr sz="1650" b="0" i="0" u="none" dirty="0">
                <a:solidFill>
                  <a:srgbClr val="000000"/>
                </a:solidFill>
                <a:latin typeface="Times New Roman"/>
              </a:rPr>
              <a:t>Roll Number of Student 25SCS1003003220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15705" y="4692848"/>
            <a:ext cx="3760440" cy="2723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45"/>
              </a:lnSpc>
            </a:pPr>
            <a:r>
              <a:rPr sz="1650" b="0" i="0" u="none">
                <a:solidFill>
                  <a:srgbClr val="000000"/>
                </a:solidFill>
                <a:latin typeface="Times New Roman"/>
              </a:rPr>
              <a:t>Name of Student: SOURAV SINGH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15705" y="5003303"/>
            <a:ext cx="3760440" cy="2723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45"/>
              </a:lnSpc>
            </a:pPr>
            <a:r>
              <a:rPr sz="1650" b="0" i="0" u="none">
                <a:solidFill>
                  <a:srgbClr val="000000"/>
                </a:solidFill>
                <a:latin typeface="Times New Roman"/>
              </a:rPr>
              <a:t>Batch: B.Tech CSE 3rd Semester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" y="5923359"/>
            <a:ext cx="9144000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340"/>
              </a:lnSpc>
            </a:pPr>
            <a:r>
              <a:rPr sz="1800" b="1" i="0" u="none">
                <a:solidFill>
                  <a:srgbClr val="000000"/>
                </a:solidFill>
                <a:latin typeface="Times New Roman"/>
              </a:rPr>
              <a:t>Internship Topic: GenAI Powered Data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4000" y="6268045"/>
            <a:ext cx="9144000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340"/>
              </a:lnSpc>
            </a:pPr>
            <a:r>
              <a:rPr sz="1800" b="1" i="0" u="none">
                <a:solidFill>
                  <a:srgbClr val="000000"/>
                </a:solidFill>
                <a:latin typeface="Times New Roman"/>
              </a:rPr>
              <a:t>Organization Name: Forage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F467F0A-79F3-D6A1-405E-3D1A6A93CC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2414" y="2915117"/>
            <a:ext cx="1107017" cy="10966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26108"/>
            <a:ext cx="7620000" cy="34057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4900" y="2202358"/>
            <a:ext cx="6940867" cy="1340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sz="4800" b="1" i="0" u="none">
                <a:solidFill>
                  <a:srgbClr val="10B981"/>
                </a:solidFill>
                <a:latin typeface="Playfair Display"/>
              </a:rPr>
              <a:t>AI-Powered Collections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900" y="3733800"/>
            <a:ext cx="66103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94A3B8"/>
                </a:solidFill>
                <a:latin typeface="Inter Light"/>
              </a:rPr>
              <a:t>Leveraging Agentic AI for Scalable, Fair, and Effective Debt Management at Geldium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24025"/>
            <a:ext cx="2547937" cy="45624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5187" y="1724025"/>
            <a:ext cx="2547937" cy="45624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724025"/>
            <a:ext cx="2547937" cy="45624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2562" y="1724025"/>
            <a:ext cx="2547937" cy="45624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5" y="2800350"/>
            <a:ext cx="970121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Inter SemiBold"/>
              </a:rPr>
              <a:t>1. 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219450"/>
            <a:ext cx="2071687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The system ingests structured demographic and repayment data. Key drivers include current </a:t>
            </a:r>
            <a:r>
              <a:rPr sz="1200" b="1" i="0" u="none">
                <a:solidFill>
                  <a:srgbClr val="CBD5E1"/>
                </a:solidFill>
                <a:latin typeface="Inter"/>
              </a:rPr>
              <a:t>Credit Utilization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, </a:t>
            </a:r>
            <a:r>
              <a:rPr sz="1200" b="1" i="0" u="none">
                <a:solidFill>
                  <a:srgbClr val="CBD5E1"/>
                </a:solidFill>
                <a:latin typeface="Inter"/>
              </a:rPr>
              <a:t>Month 1 Payment Status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, Account Tenure, and Debt-to-Income ratios.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43312" y="2800350"/>
            <a:ext cx="1990248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Inter SemiBold"/>
              </a:rPr>
              <a:t>2. Decision Logic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43312" y="3219450"/>
            <a:ext cx="2071687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A </a:t>
            </a:r>
            <a:r>
              <a:rPr sz="1200" b="1" i="0" u="none">
                <a:solidFill>
                  <a:srgbClr val="CBD5E1"/>
                </a:solidFill>
                <a:latin typeface="Inter"/>
              </a:rPr>
              <a:t>Gradient Boosting Algorithm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maps non-linear risk patterns. It generates probabilities of default based on complex interactions, moving beyond simple linear rules.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0" y="2800350"/>
            <a:ext cx="116014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Inter SemiBold"/>
              </a:rPr>
              <a:t>3.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0" y="3219450"/>
            <a:ext cx="2071687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Risk tiers trigger interventions. E.g., High Utilization + Missed Month 1 payment triggers an automated, supportive "Early Intervention SMS &amp; Email" sequence.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10687" y="2800350"/>
            <a:ext cx="132016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Inter SemiBold"/>
              </a:rPr>
              <a:t>4.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10687" y="3219450"/>
            <a:ext cx="2071687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The model continuously updates. Tree-based logic assigns higher weights to newly misclassified accounts, improving predictive accuracy and recall over time.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2133600"/>
            <a:ext cx="333375" cy="3810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3312" y="2133600"/>
            <a:ext cx="381000" cy="3810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0" y="2133600"/>
            <a:ext cx="333375" cy="3810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10687" y="2133600"/>
            <a:ext cx="381000" cy="381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Playfair Display SemiBold"/>
              </a:rPr>
              <a:t>How the System Works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209675"/>
            <a:ext cx="52863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Agentic AI seamlessly divides workflow between rapid automated actions and complex human negotiations, ensuring efficiency without sacrificing empathy.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250" y="2266950"/>
            <a:ext cx="5000625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Inter"/>
              </a:rPr>
              <a:t>Fully Automated Decisions: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High-confidence, low-friction actions. AI autonomously triggers early-stage payment reminder SMS/Emails specifically targeted at accounts exceeding 80% utilization with a missed recent payment.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3981450"/>
            <a:ext cx="500062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Inter"/>
              </a:rPr>
              <a:t>Human-Reviewed Actions: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High-stakes edge cases. When the model detects severe financial strain (e.g., high debt-to-income), the AI routes the profile to an agent for personalized hardship plan offerings.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5391150"/>
            <a:ext cx="500062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Inter"/>
              </a:rPr>
              <a:t>Agent Augmentation: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AI provides agents with "Feature Importance" metrics (e.g., "Flagged due to recent missed payment"), equipping them with context before making a call.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209675"/>
            <a:ext cx="5286375" cy="4286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57150"/>
            <a:ext cx="116014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Playfair Display SemiBold"/>
              </a:rPr>
              <a:t>The Role of Agentic AI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809625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305050"/>
            <a:ext cx="952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019550"/>
            <a:ext cx="952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429250"/>
            <a:ext cx="952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57250" y="1172616"/>
            <a:ext cx="5095875" cy="2394495"/>
          </a:xfrm>
          <a:prstGeom prst="roundRect">
            <a:avLst>
              <a:gd name="adj" fmla="val 4773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19250" y="1458366"/>
            <a:ext cx="4048125" cy="1822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8BDF8"/>
                </a:solidFill>
                <a:latin typeface="Inter SemiBold"/>
              </a:rPr>
              <a:t>Fairness Checks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38875" y="1172616"/>
            <a:ext cx="5095875" cy="2394495"/>
          </a:xfrm>
          <a:prstGeom prst="roundRect">
            <a:avLst>
              <a:gd name="adj" fmla="val 4773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00875" y="1458366"/>
            <a:ext cx="4048125" cy="1822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8BDF8"/>
                </a:solidFill>
                <a:latin typeface="Inter SemiBold"/>
              </a:rPr>
              <a:t>Explainability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7250" y="3995737"/>
            <a:ext cx="5095875" cy="2699295"/>
          </a:xfrm>
          <a:prstGeom prst="roundRect">
            <a:avLst>
              <a:gd name="adj" fmla="val 423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19250" y="4281487"/>
            <a:ext cx="4048125" cy="2127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8BDF8"/>
                </a:solidFill>
                <a:latin typeface="Inter SemiBold"/>
              </a:rPr>
              <a:t>Regulatory Compliance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8875" y="3995737"/>
            <a:ext cx="5095875" cy="2699295"/>
          </a:xfrm>
          <a:prstGeom prst="roundRect">
            <a:avLst>
              <a:gd name="adj" fmla="val 423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00875" y="4281487"/>
            <a:ext cx="4048125" cy="2127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8BDF8"/>
                </a:solidFill>
                <a:latin typeface="Inter SemiBold"/>
              </a:rPr>
              <a:t>Human-in-the-Loop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9250" y="1919287"/>
            <a:ext cx="404812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We deploy Disparate Impact testing (four-fifths rule) and monitor False Positive Rate Parity across income and age demographics to prevent biased penalization.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0875" y="1919287"/>
            <a:ext cx="404812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Tree-based models output distinct "Feature Importance" scores. Agents and auditors can transparently see exactly which variables triggered a high-risk flag.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9250" y="4742408"/>
            <a:ext cx="4048125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The system adheres to standards like ECOA and GDPR. By basing decisions on objective credit utilization and payment history rather than protected classes, we maintain legal rigor.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875" y="4742408"/>
            <a:ext cx="4048125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AI dictates the timing of automated outreach, but complex account restructuring and final determinations on severe defaults require explicit human oversight and approval.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75" y="1496466"/>
            <a:ext cx="381000" cy="3238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1496466"/>
            <a:ext cx="304800" cy="3238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5375" y="4319587"/>
            <a:ext cx="342900" cy="3238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0" y="4319587"/>
            <a:ext cx="381000" cy="3238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20091"/>
            <a:ext cx="116014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Playfair Display SemiBold"/>
              </a:rPr>
              <a:t>Responsible AI Guardrails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772566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50693" cy="1238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Playfair Display SemiBold"/>
              </a:rPr>
              <a:t>Expected Business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933575"/>
            <a:ext cx="5286375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2333625"/>
            <a:ext cx="5286375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38BDF8"/>
                </a:solidFill>
                <a:latin typeface="Inter SemiBold"/>
              </a:rPr>
              <a:t>Quantitative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794545"/>
            <a:ext cx="5286375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By transitioning from a reactive 60-day default model to proactive early intervention, Geldium targets a </a:t>
            </a:r>
            <a:r>
              <a:rPr sz="1500" b="1" i="0" u="none">
                <a:solidFill>
                  <a:srgbClr val="CBD5E1"/>
                </a:solidFill>
                <a:latin typeface="Inter"/>
              </a:rPr>
              <a:t>10% reduction in long-term delinquency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. This drastically cuts the operational costs associated with manual debt collection calls and write-offs.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747170"/>
            <a:ext cx="5286375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10B981"/>
                </a:solidFill>
                <a:latin typeface="Inter SemiBold"/>
              </a:rPr>
              <a:t>Qualitative Outcomes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208091"/>
            <a:ext cx="5286375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Intervening early with supportive digital reminders enhances </a:t>
            </a:r>
            <a:r>
              <a:rPr sz="1500" b="1" i="0" u="none">
                <a:solidFill>
                  <a:srgbClr val="CBD5E1"/>
                </a:solidFill>
                <a:latin typeface="Inter"/>
              </a:rPr>
              <a:t>customer trust and retention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. Transparent, explainable AI ensures </a:t>
            </a:r>
            <a:r>
              <a:rPr sz="1500" b="1" i="0" u="none">
                <a:solidFill>
                  <a:srgbClr val="CBD5E1"/>
                </a:solidFill>
                <a:latin typeface="Inter"/>
              </a:rPr>
              <a:t>institutional fairness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, while the automated tiering creates a highly </a:t>
            </a:r>
            <a:r>
              <a:rPr sz="1500" b="1" i="0" u="none">
                <a:solidFill>
                  <a:srgbClr val="CBD5E1"/>
                </a:solidFill>
                <a:latin typeface="Inter"/>
              </a:rPr>
              <a:t>scalable framework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for future growth.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72567"/>
            <a:ext cx="857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66875" y="1866900"/>
            <a:ext cx="9953625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https://d3njjcbhbojbot.cloudfront.net/api/utilities/v1/imageproxy/https://images.ctfassets.net/wp1lcwdav1p1/4MMsMZFpIvPomLErQITptf/d55957aa168f230bb52dc3953f135f3e/GettyImages-1308902708-converted-from-jpg.webp?w=1500&amp;h=680&amp;q=60&amp;fit=fill&amp;f=faces&amp;fm=jpg&amp;fl=progressive&amp;auto=format%2Ccompress&amp;dpr=1&amp;w=1000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2310705"/>
            <a:ext cx="99536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www.coursera.org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Playfair Display SemiBold"/>
              </a:rPr>
              <a:t>Image 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602</Words>
  <Application>Microsoft Office PowerPoint</Application>
  <PresentationFormat>Widescreen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</vt:lpstr>
      <vt:lpstr>Calibri</vt:lpstr>
      <vt:lpstr>Inter</vt:lpstr>
      <vt:lpstr>Inter Light</vt:lpstr>
      <vt:lpstr>Inter SemiBold</vt:lpstr>
      <vt:lpstr>Playfair Display</vt:lpstr>
      <vt:lpstr>Playfair Display SemiBold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sourav singh</cp:lastModifiedBy>
  <cp:revision>2</cp:revision>
  <dcterms:created xsi:type="dcterms:W3CDTF">2013-01-27T09:14:16Z</dcterms:created>
  <dcterms:modified xsi:type="dcterms:W3CDTF">2026-09-05T20:36:09Z</dcterms:modified>
  <cp:category/>
</cp:coreProperties>
</file>